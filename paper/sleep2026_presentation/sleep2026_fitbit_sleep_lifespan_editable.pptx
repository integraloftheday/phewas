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8.png" /><Relationship Id="rId2" Type="http://schemas.openxmlformats.org/officeDocument/2006/relationships/image" Target="../media/image7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5.png" /><Relationship Id="rId2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Longitudinal Modeling of Sleep Timing, Duration, and Social Jetlag Across the Adult Lifespan Using High-Resolution Wearable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of Us Research Program Fitbit sleep phenotyping</a:t>
            </a:r>
          </a:p>
          <a:p>
            <a:pPr lvl="0" indent="0" marL="0">
              <a:buNone/>
            </a:pPr>
            <a:r>
              <a:rPr/>
              <a:t>Mason Manetta; Angus Burns; Shea Andrews; Yue Leng; Diego Mazzotti</a:t>
            </a:r>
          </a:p>
          <a:p>
            <a:pPr lvl="0" indent="0" marL="0">
              <a:buNone/>
            </a:pPr>
            <a:r>
              <a:rPr/>
              <a:t>Presenter: Diego R. Mazzotti, Ph.D. (on behalf of Mason Manetta)</a:t>
            </a:r>
          </a:p>
          <a:p>
            <a:pPr lvl="0" indent="0" marL="0">
              <a:buNone/>
            </a:pPr>
            <a:r>
              <a:rPr/>
              <a:t>42,290 participants | 22.4M filtered nights | 530 mean nights / participant</a:t>
            </a:r>
          </a:p>
          <a:p>
            <a:pPr lvl="0" indent="0" marL="0">
              <a:buNone/>
            </a:pPr>
            <a:r>
              <a:rPr/>
              <a:t>Support: All of Us Research Program, Office of the Director, NIH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Disclosure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review this speaker’s disclosure information, please visit:</a:t>
            </a:r>
          </a:p>
          <a:p>
            <a:pPr lvl="0" indent="0" marL="0">
              <a:buNone/>
            </a:pPr>
            <a:r>
              <a:rPr/>
              <a:t>sleepmeeting.org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SLEEP 2026 Photography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Photography is permitted during this lecture unless a no-photography icon is shown.</a:t>
            </a:r>
          </a:p>
          <a:p>
            <a:pPr lvl="0"/>
            <a:r>
              <a:rPr/>
              <a:t>Photographs are allowed for personal, social, or non-commercial use.</a:t>
            </a:r>
          </a:p>
          <a:p>
            <a:pPr lvl="0"/>
            <a:r>
              <a:rPr/>
              <a:t>Attendees may not use flash photography or otherwise distract presenters or attendees.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Wearables and Longitudinal Monitoring of Sleep and Circadian Traits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this matters</a:t>
            </a:r>
          </a:p>
          <a:p>
            <a:pPr lvl="0"/>
            <a:r>
              <a:rPr/>
              <a:t>Sleep is important to health and chronic disease risk.</a:t>
            </a:r>
          </a:p>
          <a:p>
            <a:pPr lvl="0"/>
            <a:r>
              <a:rPr/>
              <a:t>Most large epidemiologic studies rely on self-report or short-term monitoring.</a:t>
            </a:r>
          </a:p>
          <a:p>
            <a:pPr lvl="0"/>
            <a:r>
              <a:rPr/>
              <a:t>Wearables create scalable, repeated measurements of sleep timing, duration, and variability.</a:t>
            </a:r>
          </a:p>
          <a:p>
            <a:pPr lvl="0" indent="0" marL="0">
              <a:buNone/>
            </a:pPr>
            <a:r>
              <a:rPr/>
              <a:t>Longitudinal Fitbit data move sleep phenotyping from sparse recall to repeated behavioral measurement.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Published context</a:t>
            </a:r>
          </a:p>
          <a:p>
            <a:pPr lvl="0" indent="0" marL="0">
              <a:buNone/>
            </a:pPr>
            <a:r>
              <a:rPr/>
              <a:t>Prior All of Us Fitbit analyses have linked wearable-derived sleep measures to clinical phenotypes, motivating higher-resolution longitudinal modeling of sleep behavior.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Definition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sleep start time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wake time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Midpoint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center of sleep episode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sleep window / time asleep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Sources of Variability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Extrinsic</a:t>
            </a:r>
          </a:p>
          <a:p>
            <a:pPr lvl="0"/>
            <a:r>
              <a:rPr/>
              <a:t>Weekdays vs. weekends / free days</a:t>
            </a:r>
          </a:p>
          <a:p>
            <a:pPr lvl="0"/>
            <a:r>
              <a:rPr/>
              <a:t>Seasonality and holidays</a:t>
            </a:r>
          </a:p>
          <a:p>
            <a:pPr lvl="0"/>
            <a:r>
              <a:rPr/>
              <a:t>Environmental exposures: photoperiod, temperature, humidity, daylight saving time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Intrinsic and social</a:t>
            </a:r>
          </a:p>
          <a:p>
            <a:pPr lvl="0"/>
            <a:r>
              <a:rPr/>
              <a:t>Age and sex</a:t>
            </a:r>
          </a:p>
          <a:p>
            <a:pPr lvl="0"/>
            <a:r>
              <a:rPr/>
              <a:t>Employment status and social scheduling constraints</a:t>
            </a:r>
          </a:p>
          <a:p>
            <a:pPr lvl="0"/>
            <a:r>
              <a:rPr/>
              <a:t>Stable participant-level differences captured by repeated measures</a:t>
            </a:r>
          </a:p>
          <a:p>
            <a:pPr lvl="0" indent="0" marL="0">
              <a:buNone/>
            </a:pPr>
            <a:r>
              <a:rPr/>
              <a:t>These factors are established individually, but longitudinal wearable data allow them to be modeled together within the same participants.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Study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Characterize demographic and environmental contributors to longitudinal variability in sleep patterns using device-measured Fitbit sleep data from the All of Us Research Program.</a:t>
            </a:r>
          </a:p>
          <a:p>
            <a:pPr lvl="0" indent="0" marL="0">
              <a:buNone/>
            </a:pPr>
            <a:r>
              <a:rPr/>
              <a:t>Onset: sleep start | Midpoint: sleep timing | Duration: sleep amount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of Us Research Program and Fitbit Sleep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All of Us</a:t>
            </a:r>
          </a:p>
          <a:p>
            <a:pPr lvl="0"/>
            <a:r>
              <a:rPr/>
              <a:t>National longitudinal cohort with EHR, survey, genomic, and wearable data.</a:t>
            </a:r>
          </a:p>
          <a:p>
            <a:pPr lvl="0"/>
            <a:r>
              <a:rPr/>
              <a:t>Participant-level covariates include demographics, employment, BMI, ZIP3 geography, and socioeconomic context.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Fitbit measurements</a:t>
            </a:r>
          </a:p>
          <a:p>
            <a:pPr lvl="0"/>
            <a:r>
              <a:rPr/>
              <a:t>Sleep daily summaries provide nightly sleep duration.</a:t>
            </a:r>
          </a:p>
          <a:p>
            <a:pPr lvl="0"/>
            <a:r>
              <a:rPr/>
              <a:t>Sleep-level records provide high-resolution onset/offset information.</a:t>
            </a:r>
          </a:p>
          <a:p>
            <a:pPr lvl="0"/>
            <a:r>
              <a:rPr/>
              <a:t>Repeated nights allow within-person modeling over age, season, and social schedule.</a:t>
            </a:r>
          </a:p>
        </p:txBody>
      </p:sp>
      <p:pic>
        <p:nvPicPr>
          <p:cNvPr descr="../Observations/image3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409700"/>
            <a:ext cx="4038600" cy="297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Participant Characteristics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Included participants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42,290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Filtered sleep nights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22,428,610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52 +/- 17 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Female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67.4%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32.3%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Nights recorded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530 +/- 730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Nightly duration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447 +/- 65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Nightly duration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7.5 +/- 1.1 h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descr="../Observations/image3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765300"/>
            <a:ext cx="4038600" cy="2247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Fitbit Records to Nightly Sleep Episodes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Filtering and episode construction</a:t>
            </a:r>
          </a:p>
          <a:p>
            <a:pPr lvl="0"/>
            <a:r>
              <a:rPr/>
              <a:t>Sleep-level records linked to daily summaries.</a:t>
            </a:r>
          </a:p>
          <a:p>
            <a:pPr lvl="0"/>
            <a:r>
              <a:rPr/>
              <a:t>Non-primary sleep excluded.</a:t>
            </a:r>
          </a:p>
          <a:p>
            <a:pPr lvl="0"/>
            <a:r>
              <a:rPr/>
              <a:t>Implausible raw durations excluded: &gt;18h, zero/negative, common sensor artifact values.</a:t>
            </a:r>
          </a:p>
          <a:p>
            <a:pPr lvl="0"/>
            <a:r>
              <a:rPr/>
              <a:t>Segments clustered into nightly episodes; largest main sleep cluster retained per logical night.</a:t>
            </a:r>
          </a:p>
          <a:p>
            <a:pPr lvl="0"/>
            <a:r>
              <a:rPr/>
              <a:t>Sleep date assigned using a 6-hour backward shift.</a:t>
            </a:r>
          </a:p>
        </p:txBody>
      </p:sp>
      <p:pic>
        <p:nvPicPr>
          <p:cNvPr descr="../Observations/image3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409700"/>
            <a:ext cx="4038600" cy="297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Modeling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Linear mixed-effects models</a:t>
            </a:r>
          </a:p>
          <a:p>
            <a:pPr lvl="0" indent="0" marL="0">
              <a:buNone/>
            </a:pPr>
            <a:r>
              <a:rPr/>
              <a:t>Yij ~ poly(ageij, 2) + weekendij x employmenti + sexi + monthij + (1 | personi)</a:t>
            </a:r>
          </a:p>
          <a:p>
            <a:pPr lvl="0"/>
            <a:r>
              <a:rPr/>
              <a:t>Outcomes: onset, offset, midpoint, duration.</a:t>
            </a:r>
          </a:p>
          <a:p>
            <a:pPr lvl="0"/>
            <a:r>
              <a:rPr/>
              <a:t>Person random intercept controls stable between-person differences.</a:t>
            </a:r>
          </a:p>
          <a:p>
            <a:pPr lvl="0"/>
            <a:r>
              <a:rPr/>
              <a:t>Quadratic age captures non-linear lifespan trends.</a:t>
            </a:r>
          </a:p>
          <a:p>
            <a:pPr lvl="0"/>
            <a:r>
              <a:rPr/>
              <a:t>Employment-by-weekend interaction estimates social constraint/social jetlag patterns.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Time handling</a:t>
            </a:r>
          </a:p>
          <a:p>
            <a:pPr lvl="0"/>
            <a:r>
              <a:rPr/>
              <a:t>Timing variables were linearized because distributions were primarily unimodal.</a:t>
            </a:r>
          </a:p>
          <a:p>
            <a:pPr lvl="0"/>
            <a:r>
              <a:rPr/>
              <a:t>Clock times before noon shifted forward by 24h.</a:t>
            </a:r>
          </a:p>
          <a:p>
            <a:pPr lvl="0"/>
            <a:r>
              <a:rPr/>
              <a:t>Example: 1:00 AM -&gt; 25.0; 11:00 PM -&gt; 23.0.</a:t>
            </a:r>
          </a:p>
        </p:txBody>
      </p:sp>
      <p:pic>
        <p:nvPicPr>
          <p:cNvPr descr="../Observations/image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2438400"/>
            <a:ext cx="4038600" cy="133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Sleep and Circadian Traits x Age and Sex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Age showed a quadratic association with sleep timing across the adult lifespan.</a:t>
            </a:r>
          </a:p>
          <a:p>
            <a:pPr lvl="0"/>
            <a:r>
              <a:rPr/>
              <a:t>Model-estimated sleep midpoint advanced by approximately 42 minutes from age 18 to age 57.</a:t>
            </a:r>
          </a:p>
          <a:p>
            <a:pPr lvl="0"/>
            <a:r>
              <a:rPr/>
              <a:t>Midpoint: 2:37 AM at age 18 vs. 1:54 AM at age 57.</a:t>
            </a:r>
          </a:p>
          <a:p>
            <a:pPr lvl="0" indent="0" marL="0">
              <a:buNone/>
            </a:pPr>
            <a:r>
              <a:rPr/>
              <a:t>A simple linear age term would miss the lifespan shape of sleep timing.</a:t>
            </a:r>
          </a:p>
        </p:txBody>
      </p:sp>
      <p:pic>
        <p:nvPicPr>
          <p:cNvPr descr="../Observations/image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625600"/>
            <a:ext cx="40386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Sleep Duration Across the Adult Lifespan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Duration increased with age in adjusted models.</a:t>
            </a:r>
          </a:p>
          <a:p>
            <a:pPr lvl="0"/>
            <a:r>
              <a:rPr/>
              <a:t>Estimated gain: &gt;34 minutes between ages 18 and 85.</a:t>
            </a:r>
          </a:p>
          <a:p>
            <a:pPr lvl="0"/>
            <a:r>
              <a:rPr/>
              <a:t>Age 18: 7.45h; age 85: 8.02h.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it matters</a:t>
            </a:r>
          </a:p>
          <a:p>
            <a:pPr lvl="0" indent="0" marL="0">
              <a:buNone/>
            </a:pPr>
            <a:r>
              <a:rPr/>
              <a:t>Timing and duration change together, so future analyses should consider mutually adjusted timing-duration phenotypes.</a:t>
            </a:r>
          </a:p>
        </p:txBody>
      </p:sp>
      <p:pic>
        <p:nvPicPr>
          <p:cNvPr descr="../Observations/image4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Sleep and Circadian Traits x Other Sociodemographics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Weekend status delayed midpoint, onset, and offset across employment groups.</a:t>
            </a:r>
          </a:p>
          <a:p>
            <a:pPr lvl="0"/>
            <a:r>
              <a:rPr/>
              <a:t>Participants employed for wages showed the largest midpoint delay.</a:t>
            </a:r>
          </a:p>
          <a:p>
            <a:pPr lvl="0"/>
            <a:r>
              <a:rPr/>
              <a:t>Employed for wages: weekday midpoint 3:26 AM vs. weekend midpoint 4:08 AM.</a:t>
            </a:r>
          </a:p>
          <a:p>
            <a:pPr lvl="0"/>
            <a:r>
              <a:rPr/>
              <a:t>Weekend sleep duration extended by approximately 28 minutes.</a:t>
            </a:r>
          </a:p>
          <a:p>
            <a:pPr lvl="0" indent="0" marL="0">
              <a:buNone/>
            </a:pPr>
            <a:r>
              <a:rPr/>
              <a:t>Social timing constraints are visible in wearable sleep at population scale.</a:t>
            </a:r>
          </a:p>
        </p:txBody>
      </p:sp>
      <p:pic>
        <p:nvPicPr>
          <p:cNvPr descr="../Observations/image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Sleep and Circadian Traits x Environmental Variables</a:t>
            </a:r>
          </a:p>
        </p:txBody>
      </p:sp>
      <p:pic>
        <p:nvPicPr>
          <p:cNvPr descr="../Observations/image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98700"/>
            <a:ext cx="4038600" cy="161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Month terms indicated seasonal differences in sleep behavior.</a:t>
            </a:r>
          </a:p>
          <a:p>
            <a:pPr lvl="0"/>
            <a:r>
              <a:rPr/>
              <a:t>Sleep duration was approximately 11 minutes lower in June than the January maximum.</a:t>
            </a:r>
          </a:p>
          <a:p>
            <a:pPr lvl="0"/>
            <a:r>
              <a:rPr/>
              <a:t>Unadjusted weekly trends suggest non-sinusoidal structure, likely mixing photoperiod, calendar behavior, holidays, and DST.</a:t>
            </a:r>
          </a:p>
        </p:txBody>
      </p:sp>
      <p:pic>
        <p:nvPicPr>
          <p:cNvPr descr="../Observations/image52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35500" y="2070100"/>
            <a:ext cx="4038600" cy="205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Adds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Population-level characterization</a:t>
            </a:r>
          </a:p>
          <a:p>
            <a:pPr lvl="0"/>
            <a:r>
              <a:rPr/>
              <a:t>Quantifies non-linear age effects in device-measured sleep.</a:t>
            </a:r>
          </a:p>
          <a:p>
            <a:pPr lvl="0"/>
            <a:r>
              <a:rPr/>
              <a:t>Separates workday/free-day structure from participant-level baselines.</a:t>
            </a:r>
          </a:p>
          <a:p>
            <a:pPr lvl="0"/>
            <a:r>
              <a:rPr/>
              <a:t>Provides adjusted estimates across employment categories.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Foundation for next-stage analyses</a:t>
            </a:r>
          </a:p>
          <a:p>
            <a:pPr lvl="0"/>
            <a:r>
              <a:rPr/>
              <a:t>Genetic studies of sleep timing and chronotype.</a:t>
            </a:r>
          </a:p>
          <a:p>
            <a:pPr lvl="0"/>
            <a:r>
              <a:rPr/>
              <a:t>Clinical risk stratification using longitudinal sleep phenotypes.</a:t>
            </a:r>
          </a:p>
          <a:p>
            <a:pPr lvl="0"/>
            <a:r>
              <a:rPr/>
              <a:t>Environmental extensions: photoperiod, temperature, humidity, DST.</a:t>
            </a:r>
          </a:p>
          <a:p>
            <a:pPr lvl="0" indent="0" marL="0">
              <a:buNone/>
            </a:pPr>
            <a:r>
              <a:rPr/>
              <a:t>Large-scale wearable data can turn sleep timing from a sparse self-report phenotype into a longitudinal, model-ready exposure.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 and Interpretation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Measurement</a:t>
            </a:r>
          </a:p>
          <a:p>
            <a:pPr lvl="0"/>
            <a:r>
              <a:rPr/>
              <a:t>Fitbit-derived sleep depends on device classification of main sleep.</a:t>
            </a:r>
          </a:p>
          <a:p>
            <a:pPr lvl="0"/>
            <a:r>
              <a:rPr/>
              <a:t>Shift work is not directly measured; employment status is a proxy for social schedule constraints.</a:t>
            </a:r>
          </a:p>
          <a:p>
            <a:pPr lvl="0"/>
            <a:r>
              <a:rPr/>
              <a:t>Linearization works for the observed distribution but may under-represent true night-shift phenotypes.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Cohort and covariates</a:t>
            </a:r>
          </a:p>
          <a:p>
            <a:pPr lvl="0"/>
            <a:r>
              <a:rPr/>
              <a:t>AoU Fitbit participants are not a probability sample of U.S. adults.</a:t>
            </a:r>
          </a:p>
          <a:p>
            <a:pPr lvl="0"/>
            <a:r>
              <a:rPr/>
              <a:t>Pregnancy episode exclusion was not feasible in the V8 data context.</a:t>
            </a:r>
          </a:p>
          <a:p>
            <a:pPr lvl="0"/>
            <a:r>
              <a:rPr/>
              <a:t>ZIP3 geography is coarse for environmental and DST classification.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Conclusions and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Sleep timing and duration are dynamically structured by non-linear age effects.</a:t>
            </a:r>
          </a:p>
          <a:p>
            <a:pPr lvl="0" indent="-342900" marL="342900">
              <a:buAutoNum type="arabicPeriod"/>
            </a:pPr>
            <a:r>
              <a:rPr/>
              <a:t>Employment and weekend status reveal strong social timing constraints, including measurable social jetlag.</a:t>
            </a:r>
          </a:p>
          <a:p>
            <a:pPr lvl="0" indent="-342900" marL="342900">
              <a:buAutoNum type="arabicPeriod"/>
            </a:pPr>
            <a:r>
              <a:rPr/>
              <a:t>Seasonal patterns persist at population scale and motivate environmental modeling.</a:t>
            </a:r>
          </a:p>
          <a:p>
            <a:pPr lvl="0" indent="0" marL="0">
              <a:buNone/>
            </a:pPr>
            <a:r>
              <a:rPr/>
              <a:t>Longitudinal wearable sleep data provide a scalable foundation for personalized circadian epidemiology.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University of California, San Francisco</a:t>
            </a:r>
          </a:p>
          <a:p>
            <a:pPr lvl="0"/>
            <a:r>
              <a:rPr/>
              <a:t>Mason Manetta</a:t>
            </a:r>
          </a:p>
          <a:p>
            <a:pPr lvl="0"/>
            <a:r>
              <a:rPr/>
              <a:t>Yue Leng, Ph.D.</a:t>
            </a:r>
          </a:p>
          <a:p>
            <a:pPr lvl="0"/>
            <a:r>
              <a:rPr/>
              <a:t>Shea Andrews, Ph.D.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Harvard Medical School / Brigham and Women’s Hospital</a:t>
            </a:r>
          </a:p>
          <a:p>
            <a:pPr lvl="0"/>
            <a:r>
              <a:rPr/>
              <a:t>Angus Burns, Ph.D.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University of Kansas Medical Center</a:t>
            </a:r>
          </a:p>
          <a:p>
            <a:pPr lvl="0"/>
            <a:r>
              <a:rPr/>
              <a:t>Diego R. Mazzotti, Ph.D.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Funding and support</a:t>
            </a:r>
          </a:p>
          <a:p>
            <a:pPr lvl="0"/>
            <a:r>
              <a:rPr/>
              <a:t>All of Us Research Scholars Program</a:t>
            </a:r>
          </a:p>
          <a:p>
            <a:pPr lvl="0"/>
            <a:r>
              <a:rPr/>
              <a:t>RTI International All of Us Researcher Academy</a:t>
            </a:r>
          </a:p>
          <a:p>
            <a:pPr lvl="0"/>
            <a:r>
              <a:rPr/>
              <a:t>National Institutes of Health, Office of the Director</a:t>
            </a:r>
          </a:p>
          <a:p>
            <a:pPr lvl="0" indent="0" marL="0">
              <a:buNone/>
            </a:pPr>
            <a:r>
              <a:rPr/>
              <a:t>Questions and discussion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Backup: Validation Against Published AoU Sleep Structure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 comparison with published All of Us Fitbit sleep structure; used during extraction validation.</a:t>
            </a:r>
          </a:p>
        </p:txBody>
      </p:sp>
      <p:pic>
        <p:nvPicPr>
          <p:cNvPr descr="../Observations/image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63700"/>
            <a:ext cx="51054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Backup: Geographic and Environmental Extensions</a:t>
            </a:r>
          </a:p>
        </p:txBody>
      </p:sp>
      <p:pic>
        <p:nvPicPr>
          <p:cNvPr descr="../Observations/image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87500"/>
            <a:ext cx="4038600" cy="260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ZIP3 enables coarse geography for SES, DST, photoperiod, and PRISM weather linkage.</a:t>
            </a:r>
          </a:p>
          <a:p>
            <a:pPr lvl="0"/>
            <a:r>
              <a:rPr/>
              <a:t>Future models can estimate temperature, vapor pressure deficit, precipitation, and photoperiod effects.</a:t>
            </a:r>
          </a:p>
          <a:p>
            <a:pPr lvl="0"/>
            <a:r>
              <a:rPr/>
              <a:t>Environmental analyses should account for ZIP3 population weighting and non-random participant geography.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Backup: Daylight Saving Time Design</a:t>
            </a:r>
          </a:p>
        </p:txBody>
      </p:sp>
      <p:pic>
        <p:nvPicPr>
          <p:cNvPr descr="../Observations/image4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526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DST contrast</a:t>
            </a:r>
          </a:p>
          <a:p>
            <a:pPr lvl="0"/>
            <a:r>
              <a:rPr/>
              <a:t>Classify ZIP3 as DST-observing vs. non-DST control.</a:t>
            </a:r>
          </a:p>
          <a:p>
            <a:pPr lvl="0"/>
            <a:r>
              <a:rPr/>
              <a:t>Center each person-year using pre-transition baseline days -14 to -7.</a:t>
            </a:r>
          </a:p>
          <a:p>
            <a:pPr lvl="0"/>
            <a:r>
              <a:rPr/>
              <a:t>Estimate event-day differences around spring/fall transitions.</a:t>
            </a:r>
          </a:p>
        </p:txBody>
      </p:sp>
      <p:pic>
        <p:nvPicPr>
          <p:cNvPr descr="../Observations/image46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81600" y="1625600"/>
            <a:ext cx="29591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2026-06-08T16:25:21Z</dcterms:created>
  <dcterms:modified xsi:type="dcterms:W3CDTF">2026-06-08T16:25:21Z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